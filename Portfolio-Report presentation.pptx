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Source Sans 3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13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411129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Portfolio Report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2482572"/>
            <a:ext cx="7416403" cy="112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Analysis (July 29, 2025 - August 20, 2025)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50198" y="3974544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86942" y="4690635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6" y="462191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Abhishek Holkar 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49CDEA-BC6C-406A-A792-688EC0AE2141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5599"/>
            <a:ext cx="805636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Investment Philosophy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8051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Strategy: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build a portfolio resilient to global shocks by focusing on the robust Indian domestic economy.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2920841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Pillars: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863798" y="3711654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798" y="3711654"/>
            <a:ext cx="121920" cy="2884527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" y="3988951"/>
            <a:ext cx="345983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Domestic Consumption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63015" y="4838224"/>
            <a:ext cx="3459837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Selected companies poised to benefit from strong domestic spending (Hindustan Unilever, Asian Paints, Ultratech Cement).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3711654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6965" y="3711654"/>
            <a:ext cx="121920" cy="2884527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5646182" y="39889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Defensive Play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46182" y="4487585"/>
            <a:ext cx="345983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Included Sun Pharma for stability during market uncertainty.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3711654"/>
            <a:ext cx="4136350" cy="288452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30132" y="3711654"/>
            <a:ext cx="121920" cy="2884527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29349" y="39889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Growth Trend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29349" y="4487585"/>
            <a:ext cx="345983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Waaree Energies to capitalize on the expanding green energy sector.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687383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 Index: Sensex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1F27A3-EE58-4F9A-9439-83EFA7EBAF14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488" y="673775"/>
            <a:ext cx="10843260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Indian Economic Landscape (Q1 FY 2025-26)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57488" y="1681758"/>
            <a:ext cx="12915424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Confident Picture of Sustained Expansion: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57488" y="2338864"/>
            <a:ext cx="104061" cy="104061"/>
          </a:xfrm>
          <a:prstGeom prst="roundRect">
            <a:avLst>
              <a:gd name="adj" fmla="val 439358"/>
            </a:avLst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1169789" y="2228255"/>
            <a:ext cx="2491264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Robust GDP Growth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69789" y="2649022"/>
            <a:ext cx="1260312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Estimated at 6.8%-7.0%, making India the world's fourth-largest economy.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7488" y="3488412"/>
            <a:ext cx="104061" cy="104061"/>
          </a:xfrm>
          <a:prstGeom prst="roundRect">
            <a:avLst>
              <a:gd name="adj" fmla="val 439358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1169789" y="3377803"/>
            <a:ext cx="2856309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Inflation Under Control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69789" y="3798570"/>
            <a:ext cx="1260312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Retail (CPI) inflation fell to a multi-year low of 2.82% in May 2025.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7488" y="4637961"/>
            <a:ext cx="104061" cy="104061"/>
          </a:xfrm>
          <a:prstGeom prst="roundRect">
            <a:avLst>
              <a:gd name="adj" fmla="val 439358"/>
            </a:avLst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1169789" y="4527352"/>
            <a:ext cx="359199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Strong Sectoral Performance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169789" y="4948118"/>
            <a:ext cx="1260312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Manufacturing (PMI at 14-month high), Services, and Agriculture showed strong growth.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7488" y="5787509"/>
            <a:ext cx="104061" cy="104061"/>
          </a:xfrm>
          <a:prstGeom prst="roundRect">
            <a:avLst>
              <a:gd name="adj" fmla="val 439358"/>
            </a:avLst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1169789" y="5676900"/>
            <a:ext cx="3278029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Stable Policy Environment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69789" y="6097667"/>
            <a:ext cx="1260312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RBI maintained the repo rate at 5.50%, with a continued government focus on infrastructure.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7488" y="6937058"/>
            <a:ext cx="104061" cy="104061"/>
          </a:xfrm>
          <a:prstGeom prst="roundRect">
            <a:avLst>
              <a:gd name="adj" fmla="val 439358"/>
            </a:avLst>
          </a:prstGeom>
          <a:solidFill>
            <a:srgbClr val="2D2E34"/>
          </a:solidFill>
          <a:ln/>
        </p:spPr>
      </p:sp>
      <p:sp>
        <p:nvSpPr>
          <p:cNvPr id="17" name="Text 15"/>
          <p:cNvSpPr/>
          <p:nvPr/>
        </p:nvSpPr>
        <p:spPr>
          <a:xfrm>
            <a:off x="1169789" y="6826448"/>
            <a:ext cx="2948940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Improving Employment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169789" y="7247215"/>
            <a:ext cx="1260312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Unemployment declined to a three-month low of 5.2% in July 2025.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FC934-9FD1-43EA-AB9B-737E246F8C90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53741"/>
            <a:ext cx="872037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Navigating Global Headwinds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548652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2937629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5" name="Text 3"/>
          <p:cNvSpPr/>
          <p:nvPr/>
        </p:nvSpPr>
        <p:spPr>
          <a:xfrm>
            <a:off x="863798" y="3121938"/>
            <a:ext cx="4136350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Uncertainty Over U.S. Federal Reserve's Interest Rate Path: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3798" y="4321850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"hawkish" Fed stance strengthened the U.S. Dollar, leading to FII outflows from emerging markets.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580340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Negative pressure on TCS and capital-intensive companies like Tata Motors &amp; Ultratech Cement.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46965" y="2548652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2937629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5246965" y="3121938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Spike in Global Crude Oil Prices: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46965" y="3971211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Geopolitical tensions caused Brent Crude prices to spike to ~$92/barrel.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246965" y="4859536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Squeezed profit margins for Asian Paints and increased operational costs for HUL &amp; Ultratech.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30132" y="2548652"/>
            <a:ext cx="246817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630132" y="2937629"/>
            <a:ext cx="4136350" cy="3048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9630132" y="3121938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Weaker-Than-Expected Economic Data from China: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30132" y="3971211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Confirmed a faltering recovery in the world's second-largest economy.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30132" y="4859536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Directly hurt Tata Motors due to JLR's sales exposure in China and created a general "risk-off" sentiment.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D53720-4900-4C5E-8909-ECB023DF54D1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45632"/>
            <a:ext cx="712124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Diversified Portfolio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563892"/>
            <a:ext cx="5642967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Company-wise Asset Allocation: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273768"/>
            <a:ext cx="3444121" cy="34441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38399" y="326397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232429"/>
          </a:solidFill>
          <a:ln/>
        </p:spPr>
      </p:sp>
      <p:sp>
        <p:nvSpPr>
          <p:cNvPr id="6" name="Text 3"/>
          <p:cNvSpPr/>
          <p:nvPr/>
        </p:nvSpPr>
        <p:spPr>
          <a:xfrm>
            <a:off x="4646176" y="3263979"/>
            <a:ext cx="95500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Ultratech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338399" y="3663196"/>
            <a:ext cx="246817" cy="246817"/>
          </a:xfrm>
          <a:prstGeom prst="roundRect">
            <a:avLst>
              <a:gd name="adj" fmla="val 7410"/>
            </a:avLst>
          </a:prstGeom>
          <a:solidFill>
            <a:srgbClr val="36373F"/>
          </a:solidFill>
          <a:ln/>
        </p:spPr>
      </p:sp>
      <p:sp>
        <p:nvSpPr>
          <p:cNvPr id="8" name="Text 5"/>
          <p:cNvSpPr/>
          <p:nvPr/>
        </p:nvSpPr>
        <p:spPr>
          <a:xfrm>
            <a:off x="4646176" y="3663196"/>
            <a:ext cx="76652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Waaree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38399" y="4062413"/>
            <a:ext cx="246817" cy="246817"/>
          </a:xfrm>
          <a:prstGeom prst="roundRect">
            <a:avLst>
              <a:gd name="adj" fmla="val 7410"/>
            </a:avLst>
          </a:prstGeom>
          <a:solidFill>
            <a:srgbClr val="494A54"/>
          </a:solidFill>
          <a:ln/>
        </p:spPr>
      </p:sp>
      <p:sp>
        <p:nvSpPr>
          <p:cNvPr id="10" name="Text 7"/>
          <p:cNvSpPr/>
          <p:nvPr/>
        </p:nvSpPr>
        <p:spPr>
          <a:xfrm>
            <a:off x="4646176" y="4062413"/>
            <a:ext cx="393025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TCS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338399" y="446162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5B5E6A"/>
          </a:solidFill>
          <a:ln/>
        </p:spPr>
      </p:sp>
      <p:sp>
        <p:nvSpPr>
          <p:cNvPr id="12" name="Text 9"/>
          <p:cNvSpPr/>
          <p:nvPr/>
        </p:nvSpPr>
        <p:spPr>
          <a:xfrm>
            <a:off x="4646176" y="4461629"/>
            <a:ext cx="43993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HUL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338399" y="4860846"/>
            <a:ext cx="246817" cy="246817"/>
          </a:xfrm>
          <a:prstGeom prst="roundRect">
            <a:avLst>
              <a:gd name="adj" fmla="val 7410"/>
            </a:avLst>
          </a:prstGeom>
          <a:solidFill>
            <a:srgbClr val="6E717F"/>
          </a:solidFill>
          <a:ln/>
        </p:spPr>
      </p:sp>
      <p:sp>
        <p:nvSpPr>
          <p:cNvPr id="14" name="Text 11"/>
          <p:cNvSpPr/>
          <p:nvPr/>
        </p:nvSpPr>
        <p:spPr>
          <a:xfrm>
            <a:off x="4646176" y="4860846"/>
            <a:ext cx="1245632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Asian Paints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4338399" y="5260062"/>
            <a:ext cx="246817" cy="246817"/>
          </a:xfrm>
          <a:prstGeom prst="roundRect">
            <a:avLst>
              <a:gd name="adj" fmla="val 7410"/>
            </a:avLst>
          </a:prstGeom>
          <a:solidFill>
            <a:srgbClr val="828593"/>
          </a:solidFill>
          <a:ln/>
        </p:spPr>
      </p:sp>
      <p:sp>
        <p:nvSpPr>
          <p:cNvPr id="16" name="Text 13"/>
          <p:cNvSpPr/>
          <p:nvPr/>
        </p:nvSpPr>
        <p:spPr>
          <a:xfrm>
            <a:off x="4646176" y="5260062"/>
            <a:ext cx="126289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Sun Pharma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338399" y="565927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989AA6"/>
          </a:solidFill>
          <a:ln/>
        </p:spPr>
      </p:sp>
      <p:sp>
        <p:nvSpPr>
          <p:cNvPr id="18" name="Text 15"/>
          <p:cNvSpPr/>
          <p:nvPr/>
        </p:nvSpPr>
        <p:spPr>
          <a:xfrm>
            <a:off x="4646176" y="5659279"/>
            <a:ext cx="119753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Tata Motors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4338399" y="6058495"/>
            <a:ext cx="246817" cy="246817"/>
          </a:xfrm>
          <a:prstGeom prst="roundRect">
            <a:avLst>
              <a:gd name="adj" fmla="val 7410"/>
            </a:avLst>
          </a:prstGeom>
          <a:solidFill>
            <a:srgbClr val="AEAFB9"/>
          </a:solidFill>
          <a:ln/>
        </p:spPr>
      </p:sp>
      <p:sp>
        <p:nvSpPr>
          <p:cNvPr id="20" name="Text 17"/>
          <p:cNvSpPr/>
          <p:nvPr/>
        </p:nvSpPr>
        <p:spPr>
          <a:xfrm>
            <a:off x="4646176" y="6058495"/>
            <a:ext cx="78450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BSE Ltd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338399" y="6457712"/>
            <a:ext cx="246817" cy="246817"/>
          </a:xfrm>
          <a:prstGeom prst="roundRect">
            <a:avLst>
              <a:gd name="adj" fmla="val 7410"/>
            </a:avLst>
          </a:prstGeom>
          <a:solidFill>
            <a:srgbClr val="C3C4CB"/>
          </a:solidFill>
          <a:ln/>
        </p:spPr>
      </p:sp>
      <p:sp>
        <p:nvSpPr>
          <p:cNvPr id="22" name="Text 19"/>
          <p:cNvSpPr/>
          <p:nvPr/>
        </p:nvSpPr>
        <p:spPr>
          <a:xfrm>
            <a:off x="4646176" y="6457712"/>
            <a:ext cx="58947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623929" y="2563892"/>
            <a:ext cx="5101947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Sector-wise Asset Allocation:</a:t>
            </a:r>
            <a:endParaRPr lang="en-US" sz="26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929" y="3262193"/>
            <a:ext cx="3444121" cy="344412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098530" y="326397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232429"/>
          </a:solidFill>
          <a:ln/>
        </p:spPr>
      </p:sp>
      <p:sp>
        <p:nvSpPr>
          <p:cNvPr id="26" name="Text 22"/>
          <p:cNvSpPr/>
          <p:nvPr/>
        </p:nvSpPr>
        <p:spPr>
          <a:xfrm>
            <a:off x="11406307" y="3263979"/>
            <a:ext cx="80843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Cement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11098530" y="3663196"/>
            <a:ext cx="246817" cy="246817"/>
          </a:xfrm>
          <a:prstGeom prst="roundRect">
            <a:avLst>
              <a:gd name="adj" fmla="val 7410"/>
            </a:avLst>
          </a:prstGeom>
          <a:solidFill>
            <a:srgbClr val="36373F"/>
          </a:solidFill>
          <a:ln/>
        </p:spPr>
      </p:sp>
      <p:sp>
        <p:nvSpPr>
          <p:cNvPr id="28" name="Text 24"/>
          <p:cNvSpPr/>
          <p:nvPr/>
        </p:nvSpPr>
        <p:spPr>
          <a:xfrm>
            <a:off x="11406307" y="3663196"/>
            <a:ext cx="65079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</a:t>
            </a:r>
            <a:endParaRPr lang="en-US" sz="1900" dirty="0"/>
          </a:p>
        </p:txBody>
      </p:sp>
      <p:sp>
        <p:nvSpPr>
          <p:cNvPr id="29" name="Shape 25"/>
          <p:cNvSpPr/>
          <p:nvPr/>
        </p:nvSpPr>
        <p:spPr>
          <a:xfrm>
            <a:off x="11098530" y="4062413"/>
            <a:ext cx="246817" cy="246817"/>
          </a:xfrm>
          <a:prstGeom prst="roundRect">
            <a:avLst>
              <a:gd name="adj" fmla="val 7410"/>
            </a:avLst>
          </a:prstGeom>
          <a:solidFill>
            <a:srgbClr val="494A54"/>
          </a:solidFill>
          <a:ln/>
        </p:spPr>
      </p:sp>
      <p:sp>
        <p:nvSpPr>
          <p:cNvPr id="30" name="Text 26"/>
          <p:cNvSpPr/>
          <p:nvPr/>
        </p:nvSpPr>
        <p:spPr>
          <a:xfrm>
            <a:off x="11406307" y="4062413"/>
            <a:ext cx="19716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11098530" y="446162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5B5E6A"/>
          </a:solidFill>
          <a:ln/>
        </p:spPr>
      </p:sp>
      <p:sp>
        <p:nvSpPr>
          <p:cNvPr id="32" name="Text 28"/>
          <p:cNvSpPr/>
          <p:nvPr/>
        </p:nvSpPr>
        <p:spPr>
          <a:xfrm>
            <a:off x="11406307" y="4461629"/>
            <a:ext cx="58721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FMCG</a:t>
            </a:r>
            <a:endParaRPr lang="en-US" sz="1900" dirty="0"/>
          </a:p>
        </p:txBody>
      </p:sp>
      <p:sp>
        <p:nvSpPr>
          <p:cNvPr id="33" name="Shape 29"/>
          <p:cNvSpPr/>
          <p:nvPr/>
        </p:nvSpPr>
        <p:spPr>
          <a:xfrm>
            <a:off x="11098530" y="4860846"/>
            <a:ext cx="246817" cy="246817"/>
          </a:xfrm>
          <a:prstGeom prst="roundRect">
            <a:avLst>
              <a:gd name="adj" fmla="val 7410"/>
            </a:avLst>
          </a:prstGeom>
          <a:solidFill>
            <a:srgbClr val="6E717F"/>
          </a:solidFill>
          <a:ln/>
        </p:spPr>
      </p:sp>
      <p:sp>
        <p:nvSpPr>
          <p:cNvPr id="34" name="Text 30"/>
          <p:cNvSpPr/>
          <p:nvPr/>
        </p:nvSpPr>
        <p:spPr>
          <a:xfrm>
            <a:off x="11406307" y="4860846"/>
            <a:ext cx="1063347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Chemicals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11098530" y="5260062"/>
            <a:ext cx="246817" cy="246817"/>
          </a:xfrm>
          <a:prstGeom prst="roundRect">
            <a:avLst>
              <a:gd name="adj" fmla="val 7410"/>
            </a:avLst>
          </a:prstGeom>
          <a:solidFill>
            <a:srgbClr val="828593"/>
          </a:solidFill>
          <a:ln/>
        </p:spPr>
      </p:sp>
      <p:sp>
        <p:nvSpPr>
          <p:cNvPr id="36" name="Text 32"/>
          <p:cNvSpPr/>
          <p:nvPr/>
        </p:nvSpPr>
        <p:spPr>
          <a:xfrm>
            <a:off x="11406307" y="5260062"/>
            <a:ext cx="81272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Pharma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11098530" y="565927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989AA6"/>
          </a:solidFill>
          <a:ln/>
        </p:spPr>
      </p:sp>
      <p:sp>
        <p:nvSpPr>
          <p:cNvPr id="38" name="Text 34"/>
          <p:cNvSpPr/>
          <p:nvPr/>
        </p:nvSpPr>
        <p:spPr>
          <a:xfrm>
            <a:off x="11406307" y="5659279"/>
            <a:ext cx="119503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Automotive</a:t>
            </a:r>
            <a:endParaRPr lang="en-US" sz="1900" dirty="0"/>
          </a:p>
        </p:txBody>
      </p:sp>
      <p:sp>
        <p:nvSpPr>
          <p:cNvPr id="39" name="Shape 35"/>
          <p:cNvSpPr/>
          <p:nvPr/>
        </p:nvSpPr>
        <p:spPr>
          <a:xfrm>
            <a:off x="11098530" y="6058495"/>
            <a:ext cx="246817" cy="246817"/>
          </a:xfrm>
          <a:prstGeom prst="roundRect">
            <a:avLst>
              <a:gd name="adj" fmla="val 7410"/>
            </a:avLst>
          </a:prstGeom>
          <a:solidFill>
            <a:srgbClr val="AEAFB9"/>
          </a:solidFill>
          <a:ln/>
        </p:spPr>
      </p:sp>
      <p:sp>
        <p:nvSpPr>
          <p:cNvPr id="40" name="Text 36"/>
          <p:cNvSpPr/>
          <p:nvPr/>
        </p:nvSpPr>
        <p:spPr>
          <a:xfrm>
            <a:off x="11406307" y="6058495"/>
            <a:ext cx="184142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Financial Services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11098530" y="6457712"/>
            <a:ext cx="246817" cy="246817"/>
          </a:xfrm>
          <a:prstGeom prst="roundRect">
            <a:avLst>
              <a:gd name="adj" fmla="val 7410"/>
            </a:avLst>
          </a:prstGeom>
          <a:solidFill>
            <a:srgbClr val="C3C4CB"/>
          </a:solidFill>
          <a:ln/>
        </p:spPr>
      </p:sp>
      <p:sp>
        <p:nvSpPr>
          <p:cNvPr id="42" name="Text 38"/>
          <p:cNvSpPr/>
          <p:nvPr/>
        </p:nvSpPr>
        <p:spPr>
          <a:xfrm>
            <a:off x="11406307" y="6457712"/>
            <a:ext cx="589478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Other</a:t>
            </a:r>
            <a:endParaRPr lang="en-US" sz="19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BE7D98-9995-4346-912F-2BBE53829CE1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19018"/>
            <a:ext cx="110605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Portfolio Performance vs. Benchmark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790462"/>
            <a:ext cx="782835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Metrics (29th July to 20th August, 2025):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58127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Investment: ₹31,79,880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303776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Value: ₹32,98,053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3494246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 Profit: ₹1,18,173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234577"/>
            <a:ext cx="3504367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Beating the Market: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63798" y="5148739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3.72%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958453" y="627161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Portfolio Return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66592" y="5148739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0.66%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261247" y="627161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Sensex Return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69386" y="5148739"/>
            <a:ext cx="2994303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3.06%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564041" y="627161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Alpha Generated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72180" y="5148739"/>
            <a:ext cx="2994422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0.95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10866953" y="627161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Portfolio Beta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72180" y="6770251"/>
            <a:ext cx="299442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(Indicates slightly less volatility than the market)</a:t>
            </a:r>
            <a:endParaRPr lang="en-US" sz="1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D4DDDA-7839-4786-A357-C952D379E4BA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37498"/>
            <a:ext cx="85723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BSE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3240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Selected for its dominant market position, strong top-line growth (104% in FY2025) driven by increased investor participation, and anticipation of strong Q1 results.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242905"/>
            <a:ext cx="414468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Snapshot: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63798" y="4033718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Price rose on pre-result anticipation and positive brokerage reports.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49020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mid-period drop occurred due to a director's resignation citing regulatory conflicts.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94669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stock rebounded strongly on corporate updates and strategic optimism, closing higher.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5687020"/>
            <a:ext cx="465081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 (29 Jul - 20 Aug):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63798" y="669988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₹2,48,710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669988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+₹3,590 (+1.44%)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43D8D5-01E9-4451-9A10-0C7F88127B45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80599"/>
            <a:ext cx="1239607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Waaree Energies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75510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Chosen as a leading player in India's solar sector, backed by record Q1 module production, a strong 89% YoY profit increase, and significant capacity expansion plans.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286006"/>
            <a:ext cx="414468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Snapshot: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63798" y="407681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Initially rallied post-announcement of strong Q1 results.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533305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price corrected due to growing concerns over a US anti-dumping and countervailing duty probe into Indian solar cell imports.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643801"/>
            <a:ext cx="465081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 (29 Jul - 20 Aug):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63798" y="665666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₹3,16,960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665666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Loss: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-₹2,760 (-0.87%)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D6DFE6-8212-45C7-8632-9ABC2D315A24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65741"/>
            <a:ext cx="1086981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Tata Motors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360652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Included for its clear leadership in the Indian EV market, achieving its highest-ever monthly EV sales in July 2025, and robust year-on-year growth in commercial vehicle sales.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471148"/>
            <a:ext cx="414468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Snapshot: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63798" y="426196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Experienced volatility due to broader market concerns over inflation and rate hikes.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718447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Negatively impacted by weak economic data from China, a key market for its JLR brand.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458778"/>
            <a:ext cx="465081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 (29 Jul - 20 Aug):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63798" y="6471642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₹69,235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6471642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Loss: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-₹275 (-0.40%)</a:t>
            </a: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A32A6-E2FF-4E40-A158-FFEEA12F21B2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37498"/>
            <a:ext cx="851177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TCS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32409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core holding due to its status as a global IT leader with a highly diversified client base, consistent revenue growth, and a strong track record of returning value to shareholders via dividends.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242905"/>
            <a:ext cx="4144685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Snapshot: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63798" y="4033718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Initially impacted by market-wide selling amid uncertainty in the IT sector.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490204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Rebounded following positive cues from peer earnings.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94669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Jumped significantly on Aug 20th after its own strong earnings report and positive management commentary.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5687020"/>
            <a:ext cx="465081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 (29 Jul - 20 Aug):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63798" y="669988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₹3,05,600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669988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+₹4,260 (+1.39%)</a:t>
            </a:r>
            <a:endParaRPr lang="en-US" sz="1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ED2B4-E420-4A9B-AD48-6331F3C93873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771" y="1175861"/>
            <a:ext cx="12646581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Hindustan Unilever Ltd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36771" y="2333268"/>
            <a:ext cx="1295685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Selected as a defensive, market-leading FMCG company with a powerful brand portfolio, record quarterly sales, and strategic initiatives to expand into high-growth health and beauty segments.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6771" y="3134082"/>
            <a:ext cx="1295685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6771" y="388119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195387" y="3761661"/>
            <a:ext cx="3761065" cy="107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Showed strong early gains reflecting high investor optimism and positive market sentiment.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55300" y="388119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5613916" y="3761661"/>
            <a:ext cx="3761065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Experienced a sharp correction mid-period due to profit-taking.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73828" y="388119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10032444" y="3761661"/>
            <a:ext cx="3761065" cy="107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Recovered well in late August, driven by renewed buying interest and confidence in its stable demand.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6771" y="5106472"/>
            <a:ext cx="1295685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6771" y="5734050"/>
            <a:ext cx="6358890" cy="131968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75849" y="5973128"/>
            <a:ext cx="271676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5849" y="6456045"/>
            <a:ext cx="5880735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₹2,45,600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739" y="5734050"/>
            <a:ext cx="6358890" cy="131968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73816" y="5973128"/>
            <a:ext cx="271676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Profit: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673816" y="6456045"/>
            <a:ext cx="5880735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+₹21,200 (+8.63%)</a:t>
            </a:r>
            <a:endParaRPr lang="en-US" sz="18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10EDB9-DD59-42F7-B90E-CEE54445507C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80849"/>
            <a:ext cx="1104138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Asian Paints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7576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Included as the undisputed market leader in India's decorative paints sector. Key long-term driver is its heavy investment in backward integration to improve margins and reduce import dependency.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0241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233964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Benefited from falling crude oil prices, which reduce manufacturing costs.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67563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5637728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Saw volatility linked to softer urban demand and a reported YOY profit decline in the previous quarter.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7132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10041493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Rebounded as market sentiment improved on its structural growth prospects.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3798" y="513838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786199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653165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₹2,40,600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786199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Profit: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6531650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+₹16,450 (+6.84%)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A5C134-7813-4852-B4C1-431D52E52977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80849"/>
            <a:ext cx="1261931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Ultratech Cement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7576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Chosen as India's largest cement producer, set to benefit from the government's infrastructure push. Showcased robust demand, effective cost management, and a strong 49% YoY jump in Q1 net profit.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0241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233964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stock price was relatively stable leading up to its earnings announcement.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67563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5637728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Surged significantly after releasing strong Q1 FY26 results, which beat expectations.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7132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10041493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Maintained positive momentum, supported by ongoing expansion plans and sound financial health.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3798" y="513838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786199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653165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₹12,22,100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786199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Profit: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6531650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+₹67,800 (+5.55%)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8BD8CE-DABD-42B7-8EC9-D5C159C6F296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80849"/>
            <a:ext cx="1184802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Titan Company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7576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premier lifestyle brand with strong growth potential. Positioned to capitalize on rising consumer income with expanding categories in jewellery, watches, and eyewear.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0241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233964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Experienced a sharp correction early in the period due to profit-taking.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67563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5637728" y="3750231"/>
            <a:ext cx="372510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Recovered steadily on renewed investor confidence.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7132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10041493" y="3750231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Surged notably after reporting a strong 52% increase in consolidated net profit for the June quarter.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3798" y="513838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786199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653165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₹3,37,920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786199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Profit: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6531650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+₹21,580 (+6.39%)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DA99B-862B-4B45-A000-EBD55B6578AC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771" y="657463"/>
            <a:ext cx="12956858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Sun Pharmaceutical Industries Ltd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36771" y="2494121"/>
            <a:ext cx="1295685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Included as a defensive stock, being India's largest pharmaceutical company and the world's fourth-largest specialty generic drug maker with a strong, innovative R&amp;D pipeline.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6771" y="3294936"/>
            <a:ext cx="1295685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6771" y="4042053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195387" y="3922514"/>
            <a:ext cx="5970389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stock faced significant headwinds during the period.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64623" y="4042053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7823240" y="3922514"/>
            <a:ext cx="5970389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sharp price drop coincided with the National Pharmaceuticals Pricing Authority (NPPA) issuing a revised ceiling price notification, directly impacting drug pricing and margins.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6771" y="5625941"/>
            <a:ext cx="1295685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36771" y="6253520"/>
            <a:ext cx="6358890" cy="131968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75849" y="6492597"/>
            <a:ext cx="271676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75849" y="6975515"/>
            <a:ext cx="5880735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₹1,71,050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434739" y="6253520"/>
            <a:ext cx="6358890" cy="1319689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673816" y="6492597"/>
            <a:ext cx="271676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Loss: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73816" y="6975515"/>
            <a:ext cx="5880735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-₹7,740 (-4.52%)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61C36-8084-445B-B792-A2543DB7366B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80849"/>
            <a:ext cx="1213461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Company Deep Dive: Piramal Pharma Ltd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7576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global pharma company with diverse operations across CDMO, generics, and consumer healthcare. Selected for its ambitious long-term growth targets and commitment to sustainability.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0241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Snapshot: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233964" y="3750231"/>
            <a:ext cx="5926931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stock was under pressure after the company posted a quarterly loss of Rs 82 crore.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69386" y="3873579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2D2E34"/>
          </a:solidFill>
          <a:ln/>
        </p:spPr>
      </p:sp>
      <p:sp>
        <p:nvSpPr>
          <p:cNvPr id="8" name="Text 6"/>
          <p:cNvSpPr/>
          <p:nvPr/>
        </p:nvSpPr>
        <p:spPr>
          <a:xfrm>
            <a:off x="7839551" y="3750231"/>
            <a:ext cx="59270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Despite the negative news, the stock showed resilience and stability, indicating investor confidence in its medium to long-term growth prospects.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3798" y="513838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(29 Jul - 20 Aug):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3798" y="5786199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11061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Investment: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0615" y="6531650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₹20,561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38549" y="5786199"/>
            <a:ext cx="6328053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685365" y="603301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Loss: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5365" y="6531650"/>
            <a:ext cx="58344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-₹1,382 (-6.72%)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0FE0D0-C1F7-4BF0-997A-91AA487845EC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34208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429119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Strategy Validation: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focus on the Indian domestic economy proved effective in a volatile global environment.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88560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portfolio successfully generated a positive return of </a:t>
            </a: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3.72%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under a month.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34209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Outperformance: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Significantly outperformed the Sensex benchmark, delivering an alpha of </a:t>
            </a:r>
            <a:r>
              <a:rPr lang="en-US" sz="1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3.06%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798576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Drivers: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Strong performance was led by domestic-focused companies like Hindustan Unilever, Titan, and Ultratech Cement, which cushioned the portfolio against global headwinds.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625227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Result: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well-diversified, domestic-centric approach delivered resilient and market-beating returns.</a:t>
            </a:r>
            <a:endParaRPr lang="en-US" sz="1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B1EED-CFAF-48B4-9124-443812A6F69E}"/>
              </a:ext>
            </a:extLst>
          </p:cNvPr>
          <p:cNvSpPr/>
          <p:nvPr/>
        </p:nvSpPr>
        <p:spPr>
          <a:xfrm>
            <a:off x="12500658" y="7627717"/>
            <a:ext cx="2013995" cy="497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1526</Words>
  <Application>Microsoft Office PowerPoint</Application>
  <PresentationFormat>Custom</PresentationFormat>
  <Paragraphs>196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Montserrat Bold</vt:lpstr>
      <vt:lpstr>Montserrat Light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Abhishek Holkar</cp:lastModifiedBy>
  <cp:revision>3</cp:revision>
  <dcterms:created xsi:type="dcterms:W3CDTF">2025-08-31T09:10:54Z</dcterms:created>
  <dcterms:modified xsi:type="dcterms:W3CDTF">2026-06-23T09:19:37Z</dcterms:modified>
</cp:coreProperties>
</file>